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6"/>
    <p:sldId id="266" r:id="rId5"/>
    <p:sldId id="267" r:id="rId4"/>
    <p:sldId id="268" r:id="rId3"/>
    <p:sldId id="269" r:id="rId2"/>
    <p:sldId id="270" r:id="rId21"/>
    <p:sldId id="271" r:id="rId22"/>
    <p:sldId id="272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B661E9CE-4556-486C-A88F-1344D3BB4F20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  <p14:section name="Second Meeting" id="{9F05C7D8-B284-40C7-AF82-288CED6821FE}">
          <p14:sldIdLst>
            <p14:sldId id="267"/>
            <p14:sldId id="264"/>
            <p14:sldId id="270"/>
            <p14:sldId id="269"/>
            <p14:sldId id="268"/>
            <p14:sldId id="271"/>
            <p14:sldId id="27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8C606-1153-439E-ABD1-F072109BBE04}" v="1" dt="2026-10-27T10:34:12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microsoft.com/office/2015/10/relationships/revisionInfo" Target="revisionInfo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15961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361066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16427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9918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1268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681871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6372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112533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828811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5466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73201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1620330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0273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778640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264827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36165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050681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E4A56680-D56E-4552-859C-5AAD0931EAC5}" type="datetimeFigureOut">
              <a:rPr lang="zh-HK" altLang="en-US" smtClean="0"/>
              <a:t>27/10/2026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7439DDDC-A508-4468-A38B-E0EF31CC7FA6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839550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1874519"/>
            <a:ext cx="9966960" cy="1371600"/>
          </a:xfrm>
        </p:spPr>
        <p:txBody>
          <a:bodyPr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SmartMall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246120"/>
            <a:ext cx="9966960" cy="1371600"/>
          </a:xfrm>
        </p:spPr>
        <p:txBody>
          <a:bodyPr wrap="square"/>
          <a:lstStyle/>
          <a:p>
            <a:pPr algn="ctr"/>
            <a:r>
              <a:rPr sz="2800" b="1">
                <a:solidFill>
                  <a:srgbClr val="BFD4F5"/>
                </a:solidFill>
              </a:rPr>
              <a:t>Ideas &amp; Open Questions</a:t>
            </a:r>
          </a:p>
          <a:p>
            <a:pPr algn="ctr"/>
            <a:r>
              <a:rPr sz="1800">
                <a:solidFill>
                  <a:srgbClr val="A6AEBD"/>
                </a:solidFill>
              </a:rPr>
              <a:t>第二次會議 · Second Meeting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956048" y="3035808"/>
            <a:ext cx="2286000" cy="3810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今日議程 · 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72768"/>
            <a:ext cx="10451592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8AB0EC"/>
                </a:solidFill>
              </a:rPr>
              <a:t>一、 </a:t>
            </a:r>
            <a:r>
              <a:rPr sz="1900" b="1">
                <a:solidFill>
                  <a:srgbClr val="FFFFFF"/>
                </a:solidFill>
              </a:rPr>
              <a:t>目前進度回顧</a:t>
            </a:r>
            <a:r>
              <a:rPr sz="1900" b="0">
                <a:solidFill>
                  <a:srgbClr val="FFFFFF"/>
                </a:solidFill>
              </a:rPr>
              <a:t>   </a:t>
            </a:r>
            <a:r>
              <a:rPr sz="1900" b="0">
                <a:solidFill>
                  <a:srgbClr val="A6AEBD"/>
                </a:solidFill>
              </a:rPr>
              <a:t>3 分鐘 · 我們已經有什麼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8AB0EC"/>
                </a:solidFill>
              </a:rPr>
              <a:t>二、 </a:t>
            </a:r>
            <a:r>
              <a:rPr sz="1900" b="1">
                <a:solidFill>
                  <a:srgbClr val="FFFFFF"/>
                </a:solidFill>
              </a:rPr>
              <a:t>七個新想法</a:t>
            </a:r>
            <a:r>
              <a:rPr sz="1900" b="0">
                <a:solidFill>
                  <a:srgbClr val="FFFFFF"/>
                </a:solidFill>
              </a:rPr>
              <a:t>   </a:t>
            </a:r>
            <a:r>
              <a:rPr sz="1900" b="0">
                <a:solidFill>
                  <a:srgbClr val="A6AEBD"/>
                </a:solidFill>
              </a:rPr>
              <a:t>可以走得更遠的方向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8AB0EC"/>
                </a:solidFill>
              </a:rPr>
              <a:t>三、 </a:t>
            </a:r>
            <a:r>
              <a:rPr sz="1900" b="1">
                <a:solidFill>
                  <a:srgbClr val="FFFFFF"/>
                </a:solidFill>
              </a:rPr>
              <a:t>六個待定問題</a:t>
            </a:r>
            <a:r>
              <a:rPr sz="1900" b="0">
                <a:solidFill>
                  <a:srgbClr val="FFFFFF"/>
                </a:solidFill>
              </a:rPr>
              <a:t>   </a:t>
            </a:r>
            <a:r>
              <a:rPr sz="1900" b="0">
                <a:solidFill>
                  <a:srgbClr val="A6AEBD"/>
                </a:solidFill>
              </a:rPr>
              <a:t>需要你決定方向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900" b="1">
                <a:solidFill>
                  <a:srgbClr val="8AB0EC"/>
                </a:solidFill>
              </a:rPr>
              <a:t>四、 </a:t>
            </a:r>
            <a:r>
              <a:rPr sz="1900" b="1">
                <a:solidFill>
                  <a:srgbClr val="FFFFFF"/>
                </a:solidFill>
              </a:rPr>
              <a:t>下一步與時間表</a:t>
            </a:r>
            <a:r>
              <a:rPr sz="1900" b="0">
                <a:solidFill>
                  <a:srgbClr val="FFFFFF"/>
                </a:solidFill>
              </a:rPr>
              <a:t>   </a:t>
            </a:r>
            <a:r>
              <a:rPr sz="1900" b="0">
                <a:solidFill>
                  <a:srgbClr val="A6AEBD"/>
                </a:solidFill>
              </a:rPr>
              <a:t>把決定變成行動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目標：</a:t>
            </a:r>
            <a:r>
              <a:rPr sz="1500" b="0">
                <a:solidFill>
                  <a:srgbClr val="FFFFFF"/>
                </a:solidFill>
              </a:rPr>
              <a:t>在繼續動手之前，先把「範圍」與「貢獻」定清楚。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3000" b="1">
                <a:solidFill>
                  <a:srgbClr val="FFFFFF"/>
                </a:solidFill>
              </a:rPr>
              <a:t>目前進度 · Where We 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481328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FD3A6"/>
                </a:solidFill>
              </a:rPr>
              <a:t>✅ 已真正運行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A6AEBD"/>
                </a:solidFill>
              </a:rPr>
              <a:t>不是簡報，是可以打開來按的網站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>
                <a:solidFill>
                  <a:srgbClr val="7FD3A6"/>
                </a:solidFill>
              </a:rPr>
              <a:t>完整電商網站：</a:t>
            </a:r>
            <a:r>
              <a:rPr sz="1400" b="0">
                <a:solidFill>
                  <a:srgbClr val="FFFFFF"/>
                </a:solidFill>
              </a:rPr>
              <a:t>10 個 AI 模組、雙語、購物車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>
                <a:solidFill>
                  <a:srgbClr val="7FD3A6"/>
                </a:solidFill>
              </a:rPr>
              <a:t>CLIP + FAISS 視覺搜尋：</a:t>
            </a:r>
            <a:r>
              <a:rPr sz="1400" b="0">
                <a:solidFill>
                  <a:srgbClr val="FFFFFF"/>
                </a:solidFill>
              </a:rPr>
              <a:t>RTX 4070 實跑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>
                <a:solidFill>
                  <a:srgbClr val="7FD3A6"/>
                </a:solidFill>
              </a:rPr>
              <a:t>效能：</a:t>
            </a:r>
            <a:r>
              <a:rPr sz="1400" b="0">
                <a:solidFill>
                  <a:srgbClr val="FFFFFF"/>
                </a:solidFill>
              </a:rPr>
              <a:t>19 ms/圖嵌入、8–24 ms/查詢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1">
                <a:solidFill>
                  <a:srgbClr val="7FD3A6"/>
                </a:solidFill>
              </a:rPr>
              <a:t>準確度：</a:t>
            </a:r>
            <a:r>
              <a:rPr sz="1400" b="0">
                <a:solidFill>
                  <a:srgbClr val="FFFFFF"/>
                </a:solidFill>
              </a:rPr>
              <a:t>10/10 文字查詢命中正確商品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45352" y="1481328"/>
            <a:ext cx="5074920" cy="301752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8AB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8AB0EC"/>
                </a:solidFill>
              </a:rPr>
              <a:t>🧩 仍是模擬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A6AEBD"/>
                </a:solidFill>
              </a:rPr>
              <a:t>介面已完成，模型尚未接上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購物助手 / 買手盲盒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全網比價與議價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二手流轉 / 好友投票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記憶畫像 / 退貨預測 / 智慧客服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400" b="0">
                <a:solidFill>
                  <a:srgbClr val="FFFFFF"/>
                </a:solidFill>
              </a:rPr>
              <a:t>但都有明確的</a:t>
            </a:r>
            <a:r>
              <a:rPr sz="1400" b="1">
                <a:solidFill>
                  <a:srgbClr val="BFD4F5"/>
                </a:solidFill>
              </a:rPr>
              <a:t>「換模型接口」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440680"/>
            <a:ext cx="10451592" cy="658368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關鍵取捨：</a:t>
            </a:r>
            <a:r>
              <a:rPr sz="1500" b="0">
                <a:solidFill>
                  <a:srgbClr val="FFFFFF"/>
                </a:solidFill>
              </a:rPr>
              <a:t>模擬 vs 真模型，界線要劃在哪裡？（見 Q4）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440680"/>
            <a:ext cx="50800" cy="658368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1 · 新想法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sz="2200">
                <a:solidFill>
                  <a:srgbClr val="A6AEBD"/>
                </a:solidFill>
              </a:rPr>
              <a:t>七個可以走得更遠的方向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換上時尚專用 CLIP，並做成 Benchmark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IDEA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現況：</a:t>
            </a:r>
            <a:r>
              <a:rPr sz="1900" b="0">
                <a:solidFill>
                  <a:srgbClr val="FFFFFF"/>
                </a:solidFill>
              </a:rPr>
              <a:t>通用 CLIP（ViT-B-32），零樣本檢索 10/10 命中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想法：</a:t>
            </a:r>
            <a:r>
              <a:rPr sz="1900" b="0">
                <a:solidFill>
                  <a:srgbClr val="FFFFFF"/>
                </a:solidFill>
              </a:rPr>
              <a:t>換成 </a:t>
            </a:r>
            <a:r>
              <a:rPr sz="1900" b="1">
                <a:solidFill>
                  <a:srgbClr val="FFE94D"/>
                </a:solidFill>
              </a:rPr>
              <a:t>FashionCLIP / marqo-fashionSigLIP</a:t>
            </a:r>
            <a:r>
              <a:rPr sz="1900" b="0">
                <a:solidFill>
                  <a:srgbClr val="FFFFFF"/>
                </a:solidFill>
              </a:rPr>
              <a:t>，用同一組 query 比較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原因：</a:t>
            </a:r>
            <a:r>
              <a:rPr sz="1900" b="0">
                <a:solidFill>
                  <a:srgbClr val="FFFFFF"/>
                </a:solidFill>
              </a:rPr>
              <a:t>文獻指出時尚的「語意差距」最大，通用模型對材質、剪裁不敏感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交付物：</a:t>
            </a:r>
            <a:r>
              <a:rPr sz="1900" b="0">
                <a:solidFill>
                  <a:srgbClr val="FFFFFF"/>
                </a:solidFill>
              </a:rPr>
              <a:t>一張 benchmark 表（通用 vs 時尚，相同資料集與指標）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下一步：</a:t>
            </a:r>
            <a:r>
              <a:rPr sz="1900" b="0">
                <a:solidFill>
                  <a:srgbClr val="FFFFFF"/>
                </a:solidFill>
              </a:rPr>
              <a:t>先跑現有 34 件，再擴到 200 件看結果是否穩定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低成本、高學術回報</a:t>
            </a:r>
            <a:r>
              <a:rPr sz="1500" b="0">
                <a:solidFill>
                  <a:srgbClr val="FFFFFF"/>
                </a:solidFill>
              </a:rPr>
              <a:t> —— 只要換模型權重，不必重寫系統。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Human-in-the-loop 才是真正的差異化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IDEA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文獻（KDD 2016, Stitch Fix）：</a:t>
            </a:r>
            <a:r>
              <a:rPr sz="1900" b="0">
                <a:solidFill>
                  <a:srgbClr val="FFFFFF"/>
                </a:solidFill>
              </a:rPr>
              <a:t>系統價值 = </a:t>
            </a:r>
            <a:r>
              <a:rPr sz="1900" b="1">
                <a:solidFill>
                  <a:srgbClr val="FFE94D"/>
                </a:solidFill>
              </a:rPr>
              <a:t>h + m + hm</a:t>
            </a:r>
            <a:r>
              <a:rPr sz="1900" b="0">
                <a:solidFill>
                  <a:srgbClr val="FFFFFF"/>
                </a:solidFill>
              </a:rPr>
              <a:t>（人 + 機器 + 互動）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我們的對應：</a:t>
            </a:r>
            <a:r>
              <a:rPr sz="1900" b="0">
                <a:solidFill>
                  <a:srgbClr val="FFFFFF"/>
                </a:solidFill>
              </a:rPr>
              <a:t>好友投票＝購買前的人類訊號；退貨紀錄＝購買後的人類訊號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想法：</a:t>
            </a:r>
            <a:r>
              <a:rPr sz="1900" b="0">
                <a:solidFill>
                  <a:srgbClr val="FFFFFF"/>
                </a:solidFill>
              </a:rPr>
              <a:t>把人類回饋接進排序模型，形成閉環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為什麼：</a:t>
            </a:r>
            <a:r>
              <a:rPr sz="1900" b="0">
                <a:solidFill>
                  <a:srgbClr val="FFFFFF"/>
                </a:solidFill>
              </a:rPr>
              <a:t>文獻自認「真實場景仍不及人類」——這正是切入點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風險：</a:t>
            </a:r>
            <a:r>
              <a:rPr sz="1900" b="0">
                <a:solidFill>
                  <a:srgbClr val="FFFFFF"/>
                </a:solidFill>
              </a:rPr>
              <a:t>需要足夠回饋量；短期可用問卷模擬朋友投票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「AI 建議 → 人類決定 → 回饋再訓練」</a:t>
            </a:r>
            <a:r>
              <a:rPr sz="1500" b="0">
                <a:solidFill>
                  <a:srgbClr val="FFFFFF"/>
                </a:solidFill>
              </a:rPr>
              <a:t> 可以成為論文的貢獻。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多模態 RAG：把兩個模組縫起來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IDEA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現況：</a:t>
            </a:r>
            <a:r>
              <a:rPr sz="1900" b="0">
                <a:solidFill>
                  <a:srgbClr val="FFFFFF"/>
                </a:solidFill>
              </a:rPr>
              <a:t>文字助手與視覺搜尋是兩條獨立管線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想法：</a:t>
            </a:r>
            <a:r>
              <a:rPr sz="1900" b="0">
                <a:solidFill>
                  <a:srgbClr val="FFFFFF"/>
                </a:solidFill>
              </a:rPr>
              <a:t>把 CLIP 向量也放進 RAG 的檢索庫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情境：</a:t>
            </a:r>
            <a:r>
              <a:rPr sz="1900" b="0">
                <a:solidFill>
                  <a:srgbClr val="FFFFFF"/>
                </a:solidFill>
              </a:rPr>
              <a:t>「跟我上傳的這件外套同色系，但正式一點」→ 一次查詢完成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技術：</a:t>
            </a:r>
            <a:r>
              <a:rPr sz="1900" b="0">
                <a:solidFill>
                  <a:srgbClr val="FFFFFF"/>
                </a:solidFill>
              </a:rPr>
              <a:t>統一查詢向量（已實作）＋ Chroma 向量庫（免 Docker）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成本：</a:t>
            </a:r>
            <a:r>
              <a:rPr sz="1900" b="0">
                <a:solidFill>
                  <a:srgbClr val="FFFFFF"/>
                </a:solidFill>
              </a:rPr>
              <a:t>純 pip 安裝，查詢延遲預計 +20 ms 以內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把「搜圖」與「問答」</a:t>
            </a:r>
            <a:r>
              <a:rPr sz="1500" b="0">
                <a:solidFill>
                  <a:srgbClr val="FFFFFF"/>
                </a:solidFill>
              </a:rPr>
              <a:t> 合成同一個能力，而不是兩個功能。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生成式虛擬試穿：值得投入嗎？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文獻：</a:t>
            </a:r>
            <a:r>
              <a:rPr sz="1900" b="0">
                <a:solidFill>
                  <a:srgbClr val="FFFFFF"/>
                </a:solidFill>
              </a:rPr>
              <a:t>synthesis 三大任務 —— 風格轉換、姿勢轉換、布料模擬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現況：</a:t>
            </a:r>
            <a:r>
              <a:rPr sz="1900" b="0">
                <a:solidFill>
                  <a:srgbClr val="FFFFFF"/>
                </a:solidFill>
              </a:rPr>
              <a:t>canvas 疊色（誠實標註為模擬）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想法：</a:t>
            </a:r>
            <a:r>
              <a:rPr sz="1900" b="0">
                <a:solidFill>
                  <a:srgbClr val="FFFFFF"/>
                </a:solidFill>
              </a:rPr>
              <a:t>換成 diffusion（IDM-VTON / CatVTON）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風險：</a:t>
            </a:r>
            <a:r>
              <a:rPr sz="1900" b="0">
                <a:solidFill>
                  <a:srgbClr val="FFFFFF"/>
                </a:solidFill>
              </a:rPr>
              <a:t>RTX 4070 只有 12GB，主流方案多建議 16GB 以上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折衷：</a:t>
            </a:r>
            <a:r>
              <a:rPr sz="1900" b="0">
                <a:solidFill>
                  <a:srgbClr val="FFFFFF"/>
                </a:solidFill>
              </a:rPr>
              <a:t>保留 2D 合成，並用好友投票補足說服力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問題：</a:t>
            </a:r>
            <a:r>
              <a:rPr sz="1500" b="0">
                <a:solidFill>
                  <a:srgbClr val="FFFFFF"/>
                </a:solidFill>
              </a:rPr>
              <a:t>要投入這個風險，還是把現有模擬做到很精緻？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資料策略：文獻指出的真正瓶頸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IDEA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文獻結論：</a:t>
            </a:r>
            <a:r>
              <a:rPr sz="1900" b="0">
                <a:solidFill>
                  <a:srgbClr val="FFFFFF"/>
                </a:solidFill>
              </a:rPr>
              <a:t>標註成本高、資料集小、真實分佈差異大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已做：</a:t>
            </a:r>
            <a:r>
              <a:rPr sz="1900" b="0">
                <a:solidFill>
                  <a:srgbClr val="FFFFFF"/>
                </a:solidFill>
              </a:rPr>
              <a:t>從公開資料集取真實商品照（34/40），建立 CLIP 索引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想法一：</a:t>
            </a:r>
            <a:r>
              <a:rPr sz="1900" b="0">
                <a:solidFill>
                  <a:srgbClr val="FFFFFF"/>
                </a:solidFill>
              </a:rPr>
              <a:t>價格預測用合成序列（雙 11、聖誕季節性），並明確標註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想法二：</a:t>
            </a:r>
            <a:r>
              <a:rPr sz="1900" b="0">
                <a:solidFill>
                  <a:srgbClr val="FFFFFF"/>
                </a:solidFill>
              </a:rPr>
              <a:t>建立固定的評測集，讓所有模型版本都能比較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原則：</a:t>
            </a:r>
            <a:r>
              <a:rPr sz="1900" b="0">
                <a:solidFill>
                  <a:srgbClr val="FFFFFF"/>
                </a:solidFill>
              </a:rPr>
              <a:t>合成資料必須在論文明確標註，不能假裝是真實交易紀錄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論文用一整節談資料策略</a:t>
            </a:r>
            <a:r>
              <a:rPr sz="1500" b="0">
                <a:solidFill>
                  <a:srgbClr val="FFFFFF"/>
                </a:solidFill>
              </a:rPr>
              <a:t>，比假裝有真實資料更受評審欣賞。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商業模式與線上線下結合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IDEA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訂閱制：</a:t>
            </a:r>
            <a:r>
              <a:rPr sz="1900" b="0">
                <a:solidFill>
                  <a:srgbClr val="FFFFFF"/>
                </a:solidFill>
              </a:rPr>
              <a:t>AI 無限造型、盲盒組合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B2B：</a:t>
            </a:r>
            <a:r>
              <a:rPr sz="1900" b="0">
                <a:solidFill>
                  <a:srgbClr val="FFFFFF"/>
                </a:solidFill>
              </a:rPr>
              <a:t>把比價、退貨預測賣給小型賣家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佣金：</a:t>
            </a:r>
            <a:r>
              <a:rPr sz="1900" b="0">
                <a:solidFill>
                  <a:srgbClr val="FFFFFF"/>
                </a:solidFill>
              </a:rPr>
              <a:t>議價代理為使用者省下的金額抽成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線下：</a:t>
            </a:r>
            <a:r>
              <a:rPr sz="1900" b="0">
                <a:solidFill>
                  <a:srgbClr val="FFFFFF"/>
                </a:solidFill>
              </a:rPr>
              <a:t>比價時同時顯示附近門市庫存與距離（location-oriented recommendation）</a:t>
            </a:r>
          </a:p>
          <a:p>
            <a:pPr algn="l" marL="256032" indent="-256032">
              <a:spcBef>
                <a:spcPts val="0"/>
              </a:spcBef>
              <a:spcAft>
                <a:spcPts val="19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問題：</a:t>
            </a:r>
            <a:r>
              <a:rPr sz="1900" b="0">
                <a:solidFill>
                  <a:srgbClr val="FFFFFF"/>
                </a:solidFill>
              </a:rPr>
              <a:t>哪一個模式最適合當 FYP demo 的主線？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文獻案例：</a:t>
            </a:r>
            <a:r>
              <a:rPr sz="1500" b="0">
                <a:solidFill>
                  <a:srgbClr val="FFFFFF"/>
                </a:solidFill>
              </a:rPr>
              <a:t> Stitch Fix 訂閱制、Sephora 以降退貨率為策略。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400" b="1">
                <a:solidFill>
                  <a:srgbClr val="FFFFFF"/>
                </a:solidFill>
              </a:rPr>
              <a:t>Part 2 · 待討論問題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sz="2200">
                <a:solidFill>
                  <a:srgbClr val="A6AEBD"/>
                </a:solidFill>
              </a:rPr>
              <a:t>六個需要你決定方向的問題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Q1 · 研究貢獻要定位在哪裡？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10451592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(A) 工程整合：</a:t>
            </a:r>
            <a:r>
              <a:rPr sz="1800" b="0">
                <a:solidFill>
                  <a:srgbClr val="FFFFFF"/>
                </a:solidFill>
              </a:rPr>
              <a:t>把多個 AI 模組整合成一個可用的電商平台</a:t>
            </a:r>
          </a:p>
          <a:p>
            <a:pPr algn="l" marL="256032" indent="-256032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(B) 模型方法：</a:t>
            </a:r>
            <a:r>
              <a:rPr sz="1800" b="0">
                <a:solidFill>
                  <a:srgbClr val="FFFFFF"/>
                </a:solidFill>
              </a:rPr>
              <a:t>改進單一演算法（檢索 / 推薦 / 預測）</a:t>
            </a:r>
          </a:p>
          <a:p>
            <a:pPr algn="l" marL="256032" indent="-256032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(C) 使用者研究：</a:t>
            </a:r>
            <a:r>
              <a:rPr sz="1800" b="0">
                <a:solidFill>
                  <a:srgbClr val="FFFFFF"/>
                </a:solidFill>
              </a:rPr>
              <a:t>人類回饋如何改善推薦品質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977639"/>
            <a:ext cx="10451592" cy="123444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8AB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>
                <a:solidFill>
                  <a:srgbClr val="8AB0EC"/>
                </a:solidFill>
              </a:rPr>
              <a:t>我們的傾向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1">
                <a:solidFill>
                  <a:srgbClr val="BFD4F5"/>
                </a:solidFill>
              </a:rPr>
              <a:t>以 A + C 為主軸，B 用 benchmark 比較補足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486400"/>
            <a:ext cx="10451592" cy="685800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想問：</a:t>
            </a:r>
            <a:r>
              <a:rPr sz="1500" b="0">
                <a:solidFill>
                  <a:srgbClr val="FFFFFF"/>
                </a:solidFill>
              </a:rPr>
              <a:t>這樣的定位，在評分與答辯上站得住腳嗎？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5486400"/>
            <a:ext cx="50800" cy="68580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Q2 · Benchmark 要怎麼做才具說服力？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3794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20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資料集：</a:t>
            </a:r>
            <a:r>
              <a:rPr sz="1900" b="0">
                <a:solidFill>
                  <a:srgbClr val="FFFFFF"/>
                </a:solidFill>
              </a:rPr>
              <a:t>DeepFashion / PolyVore / LIP / 自建固定評測集？</a:t>
            </a:r>
          </a:p>
          <a:p>
            <a:pPr algn="l" marL="256032" indent="-256032">
              <a:spcBef>
                <a:spcPts val="0"/>
              </a:spcBef>
              <a:spcAft>
                <a:spcPts val="20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指標：</a:t>
            </a:r>
            <a:r>
              <a:rPr sz="1900" b="0">
                <a:solidFill>
                  <a:srgbClr val="FFFFFF"/>
                </a:solidFill>
              </a:rPr>
              <a:t>文字→商品 top-k、AUC（相容性）、MAPE（預測）？</a:t>
            </a:r>
          </a:p>
          <a:p>
            <a:pPr algn="l" marL="256032" indent="-256032">
              <a:spcBef>
                <a:spcPts val="0"/>
              </a:spcBef>
              <a:spcAft>
                <a:spcPts val="20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Baseline：</a:t>
            </a:r>
            <a:r>
              <a:rPr sz="1900" b="0">
                <a:solidFill>
                  <a:srgbClr val="FFFFFF"/>
                </a:solidFill>
              </a:rPr>
              <a:t>通用 CLIP、關鍵字搜尋、傳統協同過濾</a:t>
            </a:r>
          </a:p>
          <a:p>
            <a:pPr algn="l" marL="256032" indent="-256032">
              <a:spcBef>
                <a:spcPts val="0"/>
              </a:spcBef>
              <a:spcAft>
                <a:spcPts val="2000"/>
              </a:spcAft>
              <a:buChar char="•"/>
            </a:pPr>
            <a:r>
              <a:rPr sz="1900" b="1">
                <a:solidFill>
                  <a:srgbClr val="BFD4F5"/>
                </a:solidFill>
              </a:rPr>
              <a:t>嚴謹度：</a:t>
            </a:r>
            <a:r>
              <a:rPr sz="1900" b="0">
                <a:solidFill>
                  <a:srgbClr val="FFFFFF"/>
                </a:solidFill>
              </a:rPr>
              <a:t>固定隨機種子、固定 query 集，結果可重現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504688"/>
            <a:ext cx="10451592" cy="694944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想問：</a:t>
            </a:r>
            <a:r>
              <a:rPr sz="1500" b="0">
                <a:solidFill>
                  <a:srgbClr val="FFFFFF"/>
                </a:solidFill>
              </a:rPr>
              <a:t>是否一定要做使用者研究（問卷 / A/B）才算完整？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504688"/>
            <a:ext cx="50800" cy="694944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Q3 · 範圍要不要砍？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QUESTION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481328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1A2820"/>
          </a:solidFill>
          <a:ln w="12700">
            <a:solidFill>
              <a:srgbClr val="7FD3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7FD3A6"/>
                </a:solidFill>
              </a:rPr>
              <a:t>必做（核心）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A6AEBD"/>
                </a:solidFill>
              </a:rPr>
              <a:t>沒有它就不算完成專案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視覺搜尋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購物助手 / 買手盲盒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價格預測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43984" y="1481328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20242A"/>
          </a:solidFill>
          <a:ln w="12700">
            <a:solidFill>
              <a:srgbClr val="8AB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8AB0EC"/>
                </a:solidFill>
              </a:rPr>
              <a:t>加分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A6AEBD"/>
                </a:solidFill>
              </a:rPr>
              <a:t>時間夠才做，能提高分數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全網比價與議價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二手流轉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記憶畫像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退貨預測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9288" y="1481328"/>
            <a:ext cx="3291840" cy="3063240"/>
          </a:xfrm>
          <a:prstGeom prst="roundRect">
            <a:avLst>
              <a:gd name="adj" fmla="val 6000"/>
            </a:avLst>
          </a:prstGeom>
          <a:solidFill>
            <a:srgbClr val="2C281A"/>
          </a:solidFill>
          <a:ln w="12700">
            <a:solidFill>
              <a:srgbClr val="F2C14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28016" rIns="146304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>
                <a:solidFill>
                  <a:srgbClr val="F2C14E"/>
                </a:solidFill>
              </a:rPr>
              <a:t>Stretch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200" b="0">
                <a:solidFill>
                  <a:srgbClr val="A6AEBD"/>
                </a:solidFill>
              </a:rPr>
              <a:t>風險高，先評估再說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生成式虛擬試穿</a:t>
            </a:r>
          </a:p>
          <a:p>
            <a:pPr algn="l" marL="256032" indent="-256032">
              <a:spcBef>
                <a:spcPts val="0"/>
              </a:spcBef>
              <a:spcAft>
                <a:spcPts val="500"/>
              </a:spcAft>
              <a:buChar char="•"/>
            </a:pPr>
            <a:r>
              <a:rPr sz="1500" b="0">
                <a:solidFill>
                  <a:srgbClr val="FFFFFF"/>
                </a:solidFill>
              </a:rPr>
              <a:t>好友投票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5230368"/>
            <a:ext cx="10451592" cy="713232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想問：</a:t>
            </a:r>
            <a:r>
              <a:rPr sz="1500" b="0">
                <a:solidFill>
                  <a:srgbClr val="FFFFFF"/>
                </a:solidFill>
              </a:rPr>
              <a:t>你希望「每個模組都能 demo」，還是「三個做到很深」？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5230368"/>
            <a:ext cx="50800" cy="713232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Q4–Q6 · 三個較小的決定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QUESTIONS 4–6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10451592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Q4 真模型 vs 模擬：</a:t>
            </a:r>
            <a:r>
              <a:rPr sz="1800" b="0">
                <a:solidFill>
                  <a:srgbClr val="FFFFFF"/>
                </a:solidFill>
              </a:rPr>
              <a:t>哪些必須真的跑？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A6AEBD"/>
                </a:solidFill>
              </a:rPr>
              <a:t>　 建議：</a:t>
            </a:r>
            <a:r>
              <a:rPr sz="1800" b="0">
                <a:solidFill>
                  <a:srgbClr val="A6AEBD"/>
                </a:solidFill>
              </a:rPr>
              <a:t>視覺搜尋與價格預測真跑，其餘保留清楚接口</a:t>
            </a:r>
          </a:p>
          <a:p>
            <a:pPr algn="l" marL="256032" indent="-256032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Q5 評估指標：</a:t>
            </a:r>
            <a:r>
              <a:rPr sz="1800" b="0">
                <a:solidFill>
                  <a:srgbClr val="FFFFFF"/>
                </a:solidFill>
              </a:rPr>
              <a:t>除準確度外，要不要量退貨率下降、轉換率？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A6AEBD"/>
                </a:solidFill>
              </a:rPr>
              <a:t>　 前提：</a:t>
            </a:r>
            <a:r>
              <a:rPr sz="1800" b="0">
                <a:solidFill>
                  <a:srgbClr val="A6AEBD"/>
                </a:solidFill>
              </a:rPr>
              <a:t>需要真實使用者或問卷，成本較高</a:t>
            </a:r>
          </a:p>
          <a:p>
            <a:pPr algn="l" marL="256032" indent="-256032">
              <a:spcBef>
                <a:spcPts val="0"/>
              </a:spcBef>
              <a:spcAft>
                <a:spcPts val="14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Q6 合規邊界：</a:t>
            </a:r>
            <a:r>
              <a:rPr sz="1800" b="0">
                <a:solidFill>
                  <a:srgbClr val="FFFFFF"/>
                </a:solidFill>
              </a:rPr>
              <a:t>比價代理的爬取與議價到哪裡為止？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1800" b="0">
                <a:solidFill>
                  <a:srgbClr val="A6AEBD"/>
                </a:solidFill>
              </a:rPr>
              <a:t>　 目前：</a:t>
            </a:r>
            <a:r>
              <a:rPr sz="1800" b="0">
                <a:solidFill>
                  <a:srgbClr val="A6AEBD"/>
                </a:solidFill>
              </a:rPr>
              <a:t>只讀公開標價、只走平台允許的管道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47472"/>
            <a:ext cx="10360152" cy="868680"/>
          </a:xfrm>
        </p:spPr>
        <p:txBody>
          <a:bodyPr wrap="square"/>
          <a:lstStyle/>
          <a:p>
            <a:pPr algn="ctr"/>
            <a:r>
              <a:rPr sz="2900" b="1">
                <a:solidFill>
                  <a:srgbClr val="FFFFFF"/>
                </a:solidFill>
              </a:rPr>
              <a:t>下一步與時間表 ·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6048" y="1243584"/>
            <a:ext cx="2286000" cy="31750"/>
          </a:xfrm>
          <a:prstGeom prst="rect">
            <a:avLst/>
          </a:prstGeom>
          <a:solidFill>
            <a:srgbClr val="8AB0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402336"/>
            <a:ext cx="1417320" cy="310896"/>
          </a:xfrm>
          <a:prstGeom prst="roundRect">
            <a:avLst/>
          </a:prstGeom>
          <a:solidFill>
            <a:srgbClr val="3A5F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517904"/>
            <a:ext cx="1045159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256032" indent="-256032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本週：</a:t>
            </a:r>
            <a:r>
              <a:rPr sz="1800" b="0">
                <a:solidFill>
                  <a:srgbClr val="FFFFFF"/>
                </a:solidFill>
              </a:rPr>
              <a:t>換上 FashionCLIP，產出通用 vs 時尚的 benchmark 表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下週：</a:t>
            </a:r>
            <a:r>
              <a:rPr sz="1800" b="0">
                <a:solidFill>
                  <a:srgbClr val="FFFFFF"/>
                </a:solidFill>
              </a:rPr>
              <a:t>Prophet 價格預測，附線性回歸 baseline 對照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之後：</a:t>
            </a:r>
            <a:r>
              <a:rPr sz="1800" b="0">
                <a:solidFill>
                  <a:srgbClr val="FFFFFF"/>
                </a:solidFill>
              </a:rPr>
              <a:t>把 CLIP 接入 RAG；撰寫「資料策略」一節</a:t>
            </a:r>
          </a:p>
          <a:p>
            <a:pPr algn="l" marL="256032" indent="-256032">
              <a:spcBef>
                <a:spcPts val="0"/>
              </a:spcBef>
              <a:spcAft>
                <a:spcPts val="1200"/>
              </a:spcAft>
              <a:buChar char="•"/>
            </a:pPr>
            <a:r>
              <a:rPr sz="1800" b="1">
                <a:solidFill>
                  <a:srgbClr val="BFD4F5"/>
                </a:solidFill>
              </a:rPr>
              <a:t>最後：</a:t>
            </a:r>
            <a:r>
              <a:rPr sz="1800" b="0">
                <a:solidFill>
                  <a:srgbClr val="FFFFFF"/>
                </a:solidFill>
              </a:rPr>
              <a:t>整理成論文架構：四支柱對應我們十個模組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349240"/>
            <a:ext cx="10451592" cy="731520"/>
          </a:xfrm>
          <a:prstGeom prst="roundRect">
            <a:avLst>
              <a:gd name="adj" fmla="val 8000"/>
            </a:avLst>
          </a:prstGeom>
          <a:solidFill>
            <a:srgbClr val="2C2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28016" tIns="36576" bIns="36576"/>
          <a:lstStyle/>
          <a:p>
            <a:pPr algn="ctr"/>
            <a:r>
              <a:rPr sz="1500" b="1">
                <a:solidFill>
                  <a:srgbClr val="F2C14E"/>
                </a:solidFill>
              </a:rPr>
              <a:t>需要你今天決定：</a:t>
            </a:r>
            <a:r>
              <a:rPr sz="1500" b="0">
                <a:solidFill>
                  <a:srgbClr val="FFFFFF"/>
                </a:solidFill>
              </a:rPr>
              <a:t>範圍（Q3）、貢獻定位（Q1）、benchmark 設計（Q2）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5349240"/>
            <a:ext cx="50800" cy="731520"/>
          </a:xfrm>
          <a:prstGeom prst="rect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148840"/>
            <a:ext cx="9966960" cy="1188720"/>
          </a:xfrm>
        </p:spPr>
        <p:txBody>
          <a:bodyPr wrap="square"/>
          <a:lstStyle/>
          <a:p>
            <a:pPr algn="ctr"/>
            <a:r>
              <a:rPr sz="5000" b="1">
                <a:solidFill>
                  <a:srgbClr val="FFFFFF"/>
                </a:solidFill>
              </a:rPr>
              <a:t>討論時間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7280" y="3520440"/>
            <a:ext cx="9966960" cy="2377440"/>
          </a:xfrm>
        </p:spPr>
        <p:txBody>
          <a:bodyPr wrap="square"/>
          <a:lstStyle/>
          <a:p>
            <a:pPr algn="ctr">
              <a:spcAft>
                <a:spcPts val="1400"/>
              </a:spcAft>
            </a:pPr>
            <a:r>
              <a:rPr sz="2000">
                <a:solidFill>
                  <a:srgbClr val="DDE3EE"/>
                </a:solidFill>
              </a:rPr>
              <a:t>1.  研究貢獻要定位在「整合」還是「模型」？</a:t>
            </a:r>
          </a:p>
          <a:p>
            <a:pPr algn="ctr">
              <a:spcAft>
                <a:spcPts val="1400"/>
              </a:spcAft>
            </a:pPr>
            <a:r>
              <a:rPr sz="2000">
                <a:solidFill>
                  <a:srgbClr val="DDE3EE"/>
                </a:solidFill>
              </a:rPr>
              <a:t>2.  範圍要收斂到三個核心，還是維持十個模組？</a:t>
            </a:r>
          </a:p>
          <a:p>
            <a:pPr algn="ctr">
              <a:spcAft>
                <a:spcPts val="1400"/>
              </a:spcAft>
            </a:pPr>
            <a:r>
              <a:rPr sz="2000">
                <a:solidFill>
                  <a:srgbClr val="DDE3EE"/>
                </a:solidFill>
              </a:rPr>
              <a:t>3.  要不要做使用者研究來驗證退貨率下降？</a:t>
            </a:r>
          </a:p>
        </p:txBody>
      </p:sp>
    </p:spTree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網狀">
  <a:themeElements>
    <a:clrScheme name="網狀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網狀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網狀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TM03457485[[fn=網狀]]</Template>
  <Application>Microsoft Office PowerPoint</Application>
  <PresentationFormat>Widescreen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網狀</vt:lpstr>
      <vt:lpstr>Final year project smartmall</vt:lpstr>
      <vt:lpstr>人工智慧於電子商務</vt:lpstr>
      <vt:lpstr>現時系統痛點與研究動機</vt:lpstr>
      <vt:lpstr>情境購物助手</vt:lpstr>
      <vt:lpstr>視覺搜尋</vt:lpstr>
      <vt:lpstr>AI 虛擬試穿</vt:lpstr>
      <vt:lpstr>預測未來價格變化</vt:lpstr>
      <vt:lpstr>Second meeting</vt:lpstr>
      <vt:lpstr>How we conduct</vt:lpstr>
      <vt:lpstr>AI asSistant</vt:lpstr>
      <vt:lpstr>Visual search</vt:lpstr>
      <vt:lpstr>Price forecasting</vt:lpstr>
      <vt:lpstr>Idea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CHIU CHEUK NAM (25200100)</dc:creator>
  <cp:lastModifiedBy>WONG PUI LAM (25200436)</cp:lastModifiedBy>
  <cp:revision>4</cp:revision>
  <dcterms:created xsi:type="dcterms:W3CDTF">2026-09-27T16:31:37Z</dcterms:created>
  <dcterms:modified xsi:type="dcterms:W3CDTF">2026-10-27T10:34:32Z</dcterms:modified>
</cp:coreProperties>
</file>