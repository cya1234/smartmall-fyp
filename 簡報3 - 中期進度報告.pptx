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6"/>
    <p:sldId id="266" r:id="rId5"/>
    <p:sldId id="267" r:id="rId4"/>
    <p:sldId id="268" r:id="rId3"/>
    <p:sldId id="269" r:id="rId2"/>
    <p:sldId id="27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B661E9CE-4556-486C-A88F-1344D3BB4F20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Second Meeting" id="{9F05C7D8-B284-40C7-AF82-288CED6821FE}">
          <p14:sldIdLst>
            <p14:sldId id="267"/>
            <p14:sldId id="264"/>
            <p14:sldId id="270"/>
            <p14:sldId id="269"/>
            <p14:sldId id="268"/>
            <p14:sldId id="271"/>
            <p14:sldId id="27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18C606-1153-439E-ABD1-F072109BBE04}" v="1" dt="2026-10-27T10:34:12.8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4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5/10/relationships/revisionInfo" Target="revisionInfo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15961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361066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16427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49918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1268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68187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6372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12533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682881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45466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7320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620330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02737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77864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648277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361652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7050681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839550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</a:rPr>
              <a:t>SmartMall</a:t>
            </a:r>
          </a:p>
          <a:p>
            <a:pPr algn="ctr">
              <a:spcBef>
                <a:spcPts val="800"/>
              </a:spcBef>
              <a:spcAft>
                <a:spcPts val="600"/>
              </a:spcAft>
            </a:pPr>
            <a:r>
              <a:rPr sz="2400" b="0">
                <a:solidFill>
                  <a:srgbClr val="FFE94D"/>
                </a:solidFill>
              </a:rPr>
              <a:t>AI 驅動電商平台 · 中期進度報告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A6AEBD"/>
                </a:solidFill>
              </a:rPr>
              <a:t>2026 年 10 月 28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一頁看懂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E94D"/>
                </a:solidFill>
              </a:rPr>
              <a:t>4</a:t>
            </a:r>
          </a:p>
          <a:p>
            <a:pPr algn="ctr"/>
            <a:r>
              <a:rPr sz="1200">
                <a:solidFill>
                  <a:srgbClr val="A6AEBD"/>
                </a:solidFill>
              </a:rPr>
              <a:t>獨立 AI 推論服務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737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12</a:t>
            </a:r>
          </a:p>
          <a:p>
            <a:pPr algn="ctr"/>
            <a:r>
              <a:rPr sz="1200">
                <a:solidFill>
                  <a:srgbClr val="A6AEBD"/>
                </a:solidFill>
              </a:rPr>
              <a:t>功能模組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7FD3A6"/>
                </a:solidFill>
              </a:rPr>
              <a:t>135</a:t>
            </a:r>
          </a:p>
          <a:p>
            <a:pPr algn="ctr"/>
            <a:r>
              <a:rPr sz="1200">
                <a:solidFill>
                  <a:srgbClr val="A6AEBD"/>
                </a:solidFill>
              </a:rPr>
              <a:t>項自動化測試通過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737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BFD4F5"/>
                </a:solidFill>
              </a:rPr>
              <a:t>3</a:t>
            </a:r>
          </a:p>
          <a:p>
            <a:pPr algn="ctr"/>
            <a:r>
              <a:rPr sz="1200">
                <a:solidFill>
                  <a:srgbClr val="A6AEBD"/>
                </a:solidFill>
              </a:rPr>
              <a:t>張量化評估表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440680"/>
            <a:ext cx="10451592" cy="658368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1">
                <a:solidFill>
                  <a:srgbClr val="A6AEBD"/>
                </a:solidFill>
              </a:rPr>
              <a:t>重點：</a:t>
            </a:r>
            <a:r>
              <a:rPr sz="1500" b="0">
                <a:solidFill>
                  <a:srgbClr val="FFFFFF"/>
                </a:solidFill>
              </a:rPr>
              <a:t>不是做一個 AI 示範網站，而是把每項能力做到可量測、可降級、可替換。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5440680"/>
            <a:ext cx="50800" cy="65836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17520"/>
            <a:ext cx="10451592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6AEBD"/>
                </a:solidFill>
              </a:rPr>
              <a:t>三項 AI 能力都有前後對比數據，兩項負面結果改變了系統設計。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問題：時尚電商最大的成本不是流量，是退貨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00200"/>
            <a:ext cx="4937760" cy="2286000"/>
          </a:xfrm>
          <a:prstGeom prst="roundRect">
            <a:avLst>
              <a:gd name="adj" fmla="val 6000"/>
            </a:avLst>
          </a:prstGeom>
          <a:solidFill>
            <a:srgbClr val="20242A"/>
          </a:solidFill>
          <a:ln w="1270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5484D"/>
                </a:solidFill>
              </a:rPr>
              <a:t>消費者的困境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看不到實際版型與材質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尺碼靠猜，買錯就退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退貨流程麻煩，體驗變差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00200"/>
            <a:ext cx="4937760" cy="2286000"/>
          </a:xfrm>
          <a:prstGeom prst="roundRect">
            <a:avLst>
              <a:gd name="adj" fmla="val 6000"/>
            </a:avLst>
          </a:prstGeom>
          <a:solidFill>
            <a:srgbClr val="20242A"/>
          </a:solidFill>
          <a:ln w="12700">
            <a:solidFill>
              <a:srgbClr val="A6AE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A6AEBD"/>
                </a:solidFill>
              </a:rPr>
              <a:t>大型平台的優勢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價格、選擇、物流已做到極致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跟它比「更快更平」必輸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護城河正在被填平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440680"/>
            <a:ext cx="10451592" cy="658368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1">
                <a:solidFill>
                  <a:srgbClr val="FFE94D"/>
                </a:solidFill>
              </a:rPr>
              <a:t>所以我們不比價格，比「買對」。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5440680"/>
            <a:ext cx="50800" cy="65836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104515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A6AEBD"/>
                </a:solidFill>
              </a:rPr>
              <a:t>時尚品類退貨率長期高於其他類別，主因是購買前無法判斷。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我們的答案：讓客人買對，而不是買多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45159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A6AEBD"/>
                </a:solidFill>
              </a:rPr>
              <a:t>淘寶幫你找到最便宜的同款；</a:t>
            </a:r>
            <a:r>
              <a:rPr sz="2600" b="1">
                <a:solidFill>
                  <a:srgbClr val="FFE94D"/>
                </a:solidFill>
              </a:rPr>
              <a:t>SmartMall 幫你買對，而且不必退。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743200"/>
            <a:ext cx="4937760" cy="2194560"/>
          </a:xfrm>
          <a:prstGeom prst="roundRect">
            <a:avLst>
              <a:gd name="adj" fmla="val 6000"/>
            </a:avLst>
          </a:prstGeom>
          <a:solidFill>
            <a:srgbClr val="1A2820"/>
          </a:solidFill>
          <a:ln w="12700">
            <a:solidFill>
              <a:srgbClr val="7FD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FD3A6"/>
                </a:solidFill>
              </a:rPr>
              <a:t>目標客戶：本地中小型零售商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被大型平台擠壓的一群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沒有能力自建 AI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需要「少退貨、高客單」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743200"/>
            <a:ext cx="4937760" cy="2194560"/>
          </a:xfrm>
          <a:prstGeom prst="roundRect">
            <a:avLst>
              <a:gd name="adj" fmla="val 6000"/>
            </a:avLst>
          </a:prstGeom>
          <a:solidFill>
            <a:srgbClr val="20242A"/>
          </a:solidFill>
          <a:ln w="12700">
            <a:solidFill>
              <a:srgbClr val="BFD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BFD4F5"/>
                </a:solidFill>
              </a:rPr>
              <a:t>交付形式：B2B SaaS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一行 script 嵌入既有網店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商戶後台看成效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按租戶隔離資料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440680"/>
            <a:ext cx="10451592" cy="658368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0">
                <a:solidFill>
                  <a:srgbClr val="FFFFFF"/>
                </a:solidFill>
              </a:rPr>
              <a:t>平台越深入本地市場，小店越需要這套工具 —— 這是順風，不是逆風。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440680"/>
            <a:ext cx="50800" cy="65836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系統架構：四個服務，各自可降級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ARCHITECTURE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691640"/>
          <a:ext cx="10424159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1096"/>
                <a:gridCol w="868680"/>
                <a:gridCol w="4864607"/>
                <a:gridCol w="2779776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E94D"/>
                          </a:solidFill>
                        </a:rPr>
                        <a:t>服務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E94D"/>
                          </a:solidFill>
                        </a:rPr>
                        <a:t>埠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E94D"/>
                          </a:solidFill>
                        </a:rPr>
                        <a:t>技術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E94D"/>
                          </a:solidFill>
                        </a:rPr>
                        <a:t>離線時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網站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3000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Node.js 零依賴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BFD4F5"/>
                          </a:solidFill>
                        </a:rPr>
                        <a:t>視覺搜尋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8001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Marqo-FashionSigLIP + FAISS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退回顏色比對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BFD4F5"/>
                          </a:solidFill>
                        </a:rPr>
                        <a:t>價格預測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8002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Meta Prophet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退回線性趨勢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BFD4F5"/>
                          </a:solidFill>
                        </a:rPr>
                        <a:t>虛擬試穿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8003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CatVTON（本機 GPU）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退回疊加預覽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BFD4F5"/>
                          </a:solidFill>
                        </a:rPr>
                        <a:t>助手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3000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工具呼叫，7 個工具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退回模板回覆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" y="5440680"/>
            <a:ext cx="10451592" cy="658368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0">
                <a:solidFill>
                  <a:srgbClr val="FFFFFF"/>
                </a:solidFill>
              </a:rPr>
              <a:t>任何一個 AI 服務關掉，網站都仍然可用 —— 這是設計目標，不是副作用。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440680"/>
            <a:ext cx="50800" cy="65836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成果 1：以圖搜尋（94 條中英雙語查詢）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RESULT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691640"/>
          <a:ext cx="104241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371600"/>
                <a:gridCol w="1371600"/>
                <a:gridCol w="1554480"/>
                <a:gridCol w="15544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E94D"/>
                          </a:solidFill>
                        </a:rPr>
                        <a:t>模型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E94D"/>
                          </a:solidFill>
                        </a:rPr>
                        <a:t>R@1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E94D"/>
                          </a:solidFill>
                        </a:rPr>
                        <a:t>R@5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E94D"/>
                          </a:solidFill>
                        </a:rPr>
                        <a:t>中文 R@5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E94D"/>
                          </a:solidFill>
                        </a:rPr>
                        <a:t>英文 R@5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原本的 CLIP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45.7%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84.0%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70.2%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97.9%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BFD4F5"/>
                          </a:solidFill>
                        </a:rPr>
                        <a:t>Marqo-FashionCLIP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41.5%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78.7%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61.7%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95.7%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BFD4F5"/>
                          </a:solidFill>
                        </a:rPr>
                        <a:t>Marqo-FashionSigLIP（原始）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39.4%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58.5%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17.0%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BFD4F5"/>
                          </a:solidFill>
                        </a:rPr>
                        <a:t>＋中文查詢正規化（採用）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73.4%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" y="5440680"/>
            <a:ext cx="10451592" cy="658368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1">
                <a:solidFill>
                  <a:srgbClr val="FFE94D"/>
                </a:solidFill>
              </a:rPr>
              <a:t>換更強的模型反而變差 —— 問題不在模型，在語言。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440680"/>
            <a:ext cx="50800" cy="65836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關鍵發現：中文根本沒有被編碼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E5484D"/>
                </a:solidFill>
              </a:rPr>
              <a:t>17%</a:t>
            </a:r>
          </a:p>
          <a:p>
            <a:pPr algn="ctr"/>
            <a:r>
              <a:rPr sz="1200">
                <a:solidFill>
                  <a:srgbClr val="A6AEBD"/>
                </a:solidFill>
              </a:rPr>
              <a:t>中文 Recall@5（隨機約 15%）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7FD3A6"/>
                </a:solidFill>
              </a:rPr>
              <a:t>100%</a:t>
            </a:r>
          </a:p>
          <a:p>
            <a:pPr algn="ctr"/>
            <a:r>
              <a:rPr sz="1200">
                <a:solidFill>
                  <a:srgbClr val="A6AEBD"/>
                </a:solidFill>
              </a:rPr>
              <a:t>英文 Recall@5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E94D"/>
                </a:solidFill>
              </a:rPr>
              <a:t>+83</a:t>
            </a:r>
          </a:p>
          <a:p>
            <a:pPr algn="ctr"/>
            <a:r>
              <a:rPr sz="1200">
                <a:solidFill>
                  <a:srgbClr val="A6AEBD"/>
                </a:solidFill>
              </a:rPr>
              <a:t>加上正規化後的提升（百分點）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10451592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A6AEBD"/>
                </a:solidFill>
              </a:rPr>
              <a:t>三個完全不同的中文查詢（滑雪外套／滑雪護目鏡／真皮樂福鞋）</a:t>
            </a:r>
            <a:r>
              <a:rPr sz="1500" b="1">
                <a:solidFill>
                  <a:srgbClr val="FFFFFF"/>
                </a:solidFill>
              </a:rPr>
              <a:t>產生一模一樣的向量與排序。</a:t>
            </a:r>
            <a:r>
              <a:rPr sz="1500" b="0">
                <a:solidFill>
                  <a:srgbClr val="A6AEBD"/>
                </a:solidFill>
              </a:rPr>
              <a:t>分詞器把中日韓文字壓成同一序列，等於沒有讀進去。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440680"/>
            <a:ext cx="10451592" cy="658368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0">
                <a:solidFill>
                  <a:srgbClr val="FFFFFF"/>
                </a:solidFill>
              </a:rPr>
              <a:t>修法不是換模型，是把中文查詢先轉成英文時尚術語。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5440680"/>
            <a:ext cx="50800" cy="65836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成果 2：價格預測（40 件商品 · 留出 30 天）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RESULT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691640"/>
          <a:ext cx="6583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097280"/>
                <a:gridCol w="1188720"/>
                <a:gridCol w="11887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E94D"/>
                          </a:solidFill>
                        </a:rPr>
                        <a:t>模型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E94D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E94D"/>
                          </a:solidFill>
                        </a:rPr>
                        <a:t>MAPE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E94D"/>
                          </a:solidFill>
                        </a:rPr>
                        <a:t>勝出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Prophet（採用）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0.28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0.34%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38/40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BFD4F5"/>
                          </a:solidFill>
                        </a:rPr>
                        <a:t>線性趨勢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1.10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1.25%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BFD4F5"/>
                          </a:solidFill>
                        </a:rPr>
                        <a:t>樸素（沿用現價）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0.39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0.50%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0" y="155448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2C281A"/>
          </a:solidFill>
          <a:ln w="12700">
            <a:solidFill>
              <a:srgbClr val="FFE9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E94D"/>
                </a:solidFill>
              </a:rPr>
              <a:t>雙十一那天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300" b="0">
                <a:solidFill>
                  <a:srgbClr val="FFFFFF"/>
                </a:solidFill>
              </a:rPr>
              <a:t>預測由 189 跌至 156.5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300" b="0">
                <a:solidFill>
                  <a:srgbClr val="FFFFFF"/>
                </a:solidFill>
              </a:rPr>
              <a:t>跌幅 17.2%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300" b="0">
                <a:solidFill>
                  <a:srgbClr val="FFFFFF"/>
                </a:solidFill>
              </a:rPr>
              <a:t>前後日自動回升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440680"/>
            <a:ext cx="10451592" cy="658368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0">
                <a:solidFill>
                  <a:srgbClr val="FFFFFF"/>
                </a:solidFill>
              </a:rPr>
              <a:t>把促銷日曆當節日回歸量，單日跌幅才抓得住；年度季節性會把它抹平。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5440680"/>
            <a:ext cx="50800" cy="65836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成果 3：虛擬試穿（本機 GPU，非模擬）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7FD3A6"/>
                </a:solidFill>
              </a:rPr>
              <a:t>3.57</a:t>
            </a:r>
          </a:p>
          <a:p>
            <a:pPr algn="ctr"/>
            <a:r>
              <a:rPr sz="1200">
                <a:solidFill>
                  <a:srgbClr val="A6AEBD"/>
                </a:solidFill>
              </a:rPr>
              <a:t>GiB 峰值記憶體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6459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E94D"/>
                </a:solidFill>
              </a:rPr>
              <a:t>21s</a:t>
            </a:r>
          </a:p>
          <a:p>
            <a:pPr algn="ctr"/>
            <a:r>
              <a:rPr sz="1200">
                <a:solidFill>
                  <a:srgbClr val="A6AEBD"/>
                </a:solidFill>
              </a:rPr>
              <a:t>生成時間（20 步）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6459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768×1024</a:t>
            </a:r>
          </a:p>
          <a:p>
            <a:pPr algn="ctr"/>
            <a:r>
              <a:rPr sz="1200">
                <a:solidFill>
                  <a:srgbClr val="A6AEBD"/>
                </a:solidFill>
              </a:rPr>
              <a:t>輸出解析度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10451592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選用 CatVTON（ICLR 2025）而非 Outfit Anyone：</a:t>
            </a:r>
            <a:r>
              <a:rPr sz="1500" b="0">
                <a:solidFill>
                  <a:srgbClr val="A6AEBD"/>
                </a:solidFill>
              </a:rPr>
              <a:t>後者權重未開源，官方展示亦只允許上傳衣物、人像為預設。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440680"/>
            <a:ext cx="10451592" cy="658368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0">
                <a:solidFill>
                  <a:srgbClr val="FFFFFF"/>
                </a:solidFill>
              </a:rPr>
              <a:t>臉、頭髮、褲子完整保留，只有衣服被替換。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5440680"/>
            <a:ext cx="50800" cy="65836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成果 4：助手會做事，不只是聊天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7FD3A6"/>
                </a:solidFill>
              </a:rPr>
              <a:t>100%</a:t>
            </a:r>
          </a:p>
          <a:p>
            <a:pPr algn="ctr"/>
            <a:r>
              <a:rPr sz="1200">
                <a:solidFill>
                  <a:srgbClr val="A6AEBD"/>
                </a:solidFill>
              </a:rPr>
              <a:t>工具選擇準確率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6459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7FD3A6"/>
                </a:solidFill>
              </a:rPr>
              <a:t>100%</a:t>
            </a:r>
          </a:p>
          <a:p>
            <a:pPr algn="ctr"/>
            <a:r>
              <a:rPr sz="1200">
                <a:solidFill>
                  <a:srgbClr val="A6AEBD"/>
                </a:solidFill>
              </a:rPr>
              <a:t>事實可追溯率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6459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7FD3A6"/>
                </a:solidFill>
              </a:rPr>
              <a:t>100%</a:t>
            </a:r>
          </a:p>
          <a:p>
            <a:pPr algn="ctr"/>
            <a:r>
              <a:rPr sz="1200">
                <a:solidFill>
                  <a:srgbClr val="A6AEBD"/>
                </a:solidFill>
              </a:rPr>
              <a:t>自助完成率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10451592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</a:rPr>
              <a:t>架構：問題 → 路由 → 工具 → 事實 → 組句。</a:t>
            </a:r>
            <a:r>
              <a:rPr sz="1500" b="0">
                <a:solidFill>
                  <a:srgbClr val="A6AEBD"/>
                </a:solidFill>
              </a:rPr>
              <a:t>工具輸出已格式化的數字，組句器完全不做算術 —— 所以幻覺在結構上不可能。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440680"/>
            <a:ext cx="10451592" cy="658368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0">
                <a:solidFill>
                  <a:srgbClr val="FFFFFF"/>
                </a:solidFill>
              </a:rPr>
              <a:t>「滑雪外套會唔會減價？」→ 呼叫 Prophet → 引用 11.6% 跌幅與雙十一日期。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5440680"/>
            <a:ext cx="50800" cy="65836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成果 5：香港本地化與門市導流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54480"/>
            <a:ext cx="4937760" cy="3017520"/>
          </a:xfrm>
          <a:prstGeom prst="roundRect">
            <a:avLst>
              <a:gd name="adj" fmla="val 6000"/>
            </a:avLst>
          </a:prstGeom>
          <a:solidFill>
            <a:srgbClr val="20242A"/>
          </a:solidFill>
          <a:ln w="12700">
            <a:solidFill>
              <a:srgbClr val="BFD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BFD4F5"/>
                </a:solidFill>
              </a:rPr>
              <a:t>八間門市 · 真實格式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旺角、銅鑼灣、尖沙咀、沙田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荃灣、觀塘、中環、元朗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含港鐵出口與營業時間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線上缺貨 → 顯示哪間有現貨 + 導航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554480"/>
            <a:ext cx="4937760" cy="3017520"/>
          </a:xfrm>
          <a:prstGeom prst="roundRect">
            <a:avLst>
              <a:gd name="adj" fmla="val 6000"/>
            </a:avLst>
          </a:prstGeom>
          <a:solidFill>
            <a:srgbClr val="1A2820"/>
          </a:solidFill>
          <a:ln w="12700">
            <a:solidFill>
              <a:srgbClr val="7FD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FD3A6"/>
                </a:solidFill>
              </a:rPr>
              <a:t>支付與取貨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八達通 O! ePay、PayMe、轉數快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AlipayHK、WeChat Pay HK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順豐站／智能櫃、送貨上門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門市自取：下午 6 點前即日取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440680"/>
            <a:ext cx="10451592" cy="658368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0">
                <a:solidFill>
                  <a:srgbClr val="FFFFFF"/>
                </a:solidFill>
              </a:rPr>
              <a:t>六件商品線上缺貨但門市有現貨 —— 這就是本地零售的救援場景。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5440680"/>
            <a:ext cx="50800" cy="65836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差異化：四件大型平台結構上做不到的事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STRATEGY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691640"/>
          <a:ext cx="1042415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6583679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E94D"/>
                          </a:solidFill>
                        </a:rPr>
                        <a:t>差異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E94D"/>
                          </a:solidFill>
                        </a:rPr>
                        <a:t>為何平台做不到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敢建議「等降價」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平台收入與成交額掛鉤，不會給出違反自身利益的建議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BFD4F5"/>
                          </a:solidFill>
                        </a:rPr>
                        <a:t>跨商戶退貨情報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平台彙總商家退貨資料在商業關係上不可行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BFD4F5"/>
                          </a:solidFill>
                        </a:rPr>
                        <a:t>尺寸護照（跨商戶通用）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平台的尺碼資料不會開放給個別商家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BFD4F5"/>
                          </a:solidFill>
                        </a:rPr>
                        <a:t>私隱本地化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模型在本機 GPU 執行，身材照片不需上傳第三方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" y="5440680"/>
            <a:ext cx="10451592" cy="658368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1">
                <a:solidFill>
                  <a:srgbClr val="FFE94D"/>
                </a:solidFill>
              </a:rPr>
              <a:t>這些不是功能差異，是「目標函數」的差異。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440680"/>
            <a:ext cx="50800" cy="65836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進度：三次會議的承諾都已完成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PROGRESS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691640"/>
          <a:ext cx="1042415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9894"/>
                <a:gridCol w="6142808"/>
                <a:gridCol w="1861457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E94D"/>
                          </a:solidFill>
                        </a:rPr>
                        <a:t>階段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E94D"/>
                          </a:solidFill>
                        </a:rPr>
                        <a:t>工作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E94D"/>
                          </a:solidFill>
                        </a:rPr>
                        <a:t>狀態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第一次會議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網站基礎與十個功能模組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已完成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BFD4F5"/>
                          </a:solidFill>
                        </a:rPr>
                        <a:t>第二次會議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情境助手、視覺搜尋、價格預測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已完成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BFD4F5"/>
                          </a:solidFill>
                        </a:rPr>
                        <a:t>第三次會議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商戶後台、嵌入元件、退出挽留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已完成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BFD4F5"/>
                          </a:solidFill>
                        </a:rPr>
                        <a:t>中期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真實模型替換：試穿、預測、檢索、助手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已完成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BFD4F5"/>
                          </a:solidFill>
                        </a:rPr>
                        <a:t>下一階段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Shop the Look、Try-Off、使用者研究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待進行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" y="5440680"/>
            <a:ext cx="10451592" cy="658368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0">
                <a:solidFill>
                  <a:srgbClr val="FFFFFF"/>
                </a:solidFill>
              </a:rPr>
              <a:t>五項 AI 能力由「模擬」轉為「真實模型」，全部可量測。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440680"/>
            <a:ext cx="50800" cy="65836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下一步與風險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54480"/>
            <a:ext cx="4937760" cy="2926080"/>
          </a:xfrm>
          <a:prstGeom prst="roundRect">
            <a:avLst>
              <a:gd name="adj" fmla="val 6000"/>
            </a:avLst>
          </a:prstGeom>
          <a:solidFill>
            <a:srgbClr val="1A2820"/>
          </a:solidFill>
          <a:ln w="12700">
            <a:solidFill>
              <a:srgbClr val="7FD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FD3A6"/>
                </a:solidFill>
              </a:rPr>
              <a:t>接下來做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Shop the Look：偵測裁切後逐件檢索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Try-Off：二手刊登自動去背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助手路由改用語言模型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使用者研究：驗證退貨率下降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554480"/>
            <a:ext cx="4937760" cy="2926080"/>
          </a:xfrm>
          <a:prstGeom prst="roundRect">
            <a:avLst>
              <a:gd name="adj" fmla="val 6000"/>
            </a:avLst>
          </a:prstGeom>
          <a:solidFill>
            <a:srgbClr val="2C281A"/>
          </a:solidFill>
          <a:ln w="12700">
            <a:solidFill>
              <a:srgbClr val="FFE9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E94D"/>
                </a:solidFill>
              </a:rPr>
              <a:t>風險與老實話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資料為合成，評估偏樂觀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CatVTON 授權非商業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試穿延遲 20–30 秒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規則式路由覆蓋率有限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440680"/>
            <a:ext cx="10451592" cy="658368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0">
                <a:solidFill>
                  <a:srgbClr val="FFFFFF"/>
                </a:solidFill>
              </a:rPr>
              <a:t>論文的價值在於「負面結果 + 修正」，而不是「用了很多模型」。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5440680"/>
            <a:ext cx="50800" cy="65836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</a:rPr>
              <a:t>討論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1900" b="0">
                <a:solidFill>
                  <a:srgbClr val="DDE3EE"/>
                </a:solidFill>
              </a:rPr>
              <a:t>1.  研究貢獻應定位在「整合」還是「模型」？</a:t>
            </a:r>
          </a:p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1900" b="0">
                <a:solidFill>
                  <a:srgbClr val="DDE3EE"/>
                </a:solidFill>
              </a:rPr>
              <a:t>2.  Shop the Look 與使用者研究，優先做哪一項？</a:t>
            </a:r>
          </a:p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1900" b="0">
                <a:solidFill>
                  <a:srgbClr val="DDE3EE"/>
                </a:solidFill>
              </a:rPr>
              <a:t>3.  合成資料的評估結果，如何在論文中誠實呈現？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網狀">
  <a:themeElements>
    <a:clrScheme name="網狀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網狀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網狀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TM03457485[[fn=網狀]]</Template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網狀</vt:lpstr>
      <vt:lpstr>Final year project smartmall</vt:lpstr>
      <vt:lpstr>人工智慧於電子商務</vt:lpstr>
      <vt:lpstr>現時系統痛點與研究動機</vt:lpstr>
      <vt:lpstr>情境購物助手</vt:lpstr>
      <vt:lpstr>視覺搜尋</vt:lpstr>
      <vt:lpstr>AI 虛擬試穿</vt:lpstr>
      <vt:lpstr>預測未來價格變化</vt:lpstr>
      <vt:lpstr>Second meeting</vt:lpstr>
      <vt:lpstr>How we conduct</vt:lpstr>
      <vt:lpstr>AI asSistant</vt:lpstr>
      <vt:lpstr>Visual search</vt:lpstr>
      <vt:lpstr>Price forecasting</vt:lpstr>
      <vt:lpstr>Idea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CHIU CHEUK NAM (25200100)</dc:creator>
  <cp:lastModifiedBy>WONG PUI LAM (25200436)</cp:lastModifiedBy>
  <cp:revision>4</cp:revision>
  <dcterms:created xsi:type="dcterms:W3CDTF">2026-09-27T16:31:37Z</dcterms:created>
  <dcterms:modified xsi:type="dcterms:W3CDTF">2026-10-27T10:34:32Z</dcterms:modified>
</cp:coreProperties>
</file>