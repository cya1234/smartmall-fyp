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6"/>
    <p:sldId id="266" r:id="rId5"/>
    <p:sldId id="267" r:id="rId4"/>
    <p:sldId id="268" r:id="rId3"/>
    <p:sldId id="269" r:id="rId2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B661E9CE-4556-486C-A88F-1344D3BB4F20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econd Meeting" id="{9F05C7D8-B284-40C7-AF82-288CED6821FE}">
          <p14:sldIdLst>
            <p14:sldId id="267"/>
            <p14:sldId id="264"/>
            <p14:sldId id="270"/>
            <p14:sldId id="269"/>
            <p14:sldId id="268"/>
            <p14:sldId id="271"/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8C606-1153-439E-ABD1-F072109BBE04}" v="1" dt="2026-10-27T10:34:12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15961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6106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1642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4991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268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68187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6372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1253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8288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45466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7320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62033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0273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77864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648277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36165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050681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839550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600" b="1" cap="none">
                <a:solidFill>
                  <a:srgbClr val="FFFFFF"/>
                </a:solidFill>
              </a:rPr>
              <a:t>SmartMall</a:t>
            </a:r>
          </a:p>
          <a:p>
            <a:pPr algn="ctr">
              <a:spcBef>
                <a:spcPts val="800"/>
              </a:spcBef>
              <a:spcAft>
                <a:spcPts val="600"/>
              </a:spcAft>
            </a:pPr>
            <a:r>
              <a:rPr sz="2200" b="0" cap="none">
                <a:solidFill>
                  <a:srgbClr val="FFE94D"/>
                </a:solidFill>
              </a:rPr>
              <a:t>AI-Driven E-Commerce · Interim Progress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cap="none">
                <a:solidFill>
                  <a:srgbClr val="A6AEBD"/>
                </a:solidFill>
              </a:rPr>
              <a:t>28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 cap="none">
                <a:solidFill>
                  <a:srgbClr val="FFFFFF"/>
                </a:solidFill>
              </a:rPr>
              <a:t>The project in one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cap="none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cap="none">
                <a:solidFill>
                  <a:srgbClr val="FFE94D"/>
                </a:solidFill>
              </a:rPr>
              <a:t>4</a:t>
            </a:r>
          </a:p>
          <a:p>
            <a:pPr algn="ctr"/>
            <a:r>
              <a:rPr sz="1200" cap="none">
                <a:solidFill>
                  <a:srgbClr val="A6AEBD"/>
                </a:solidFill>
              </a:rPr>
              <a:t>independent AI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cap="none">
                <a:solidFill>
                  <a:srgbClr val="FFFFFF"/>
                </a:solidFill>
              </a:rPr>
              <a:t>12</a:t>
            </a:r>
          </a:p>
          <a:p>
            <a:pPr algn="ctr"/>
            <a:r>
              <a:rPr sz="1200" cap="none">
                <a:solidFill>
                  <a:srgbClr val="A6AEBD"/>
                </a:solidFill>
              </a:rPr>
              <a:t>functional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cap="none">
                <a:solidFill>
                  <a:srgbClr val="7FD3A6"/>
                </a:solidFill>
              </a:rPr>
              <a:t>135</a:t>
            </a:r>
          </a:p>
          <a:p>
            <a:pPr algn="ctr"/>
            <a:r>
              <a:rPr sz="1200" cap="none">
                <a:solidFill>
                  <a:srgbClr val="A6AEBD"/>
                </a:solidFill>
              </a:rPr>
              <a:t>automated checks passing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cap="none">
                <a:solidFill>
                  <a:srgbClr val="BFD4F5"/>
                </a:solidFill>
              </a:rPr>
              <a:t>3</a:t>
            </a:r>
          </a:p>
          <a:p>
            <a:pPr algn="ctr"/>
            <a:r>
              <a:rPr sz="1200" cap="none">
                <a:solidFill>
                  <a:srgbClr val="A6AEBD"/>
                </a:solidFill>
              </a:rPr>
              <a:t>quantified evaluations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10451592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 cap="none">
                <a:solidFill>
                  <a:srgbClr val="A6AEBD"/>
                </a:solidFill>
              </a:rPr>
              <a:t>Three AI capabilities have before/after numbers. Two negative results changed the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 cap="none">
                <a:solidFill>
                  <a:srgbClr val="FFFFFF"/>
                </a:solidFill>
              </a:rPr>
              <a:t>Not an AI demo site — every capability is measurable, degradable and replaceable.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 cap="none">
                <a:solidFill>
                  <a:srgbClr val="FFFFFF"/>
                </a:solidFill>
              </a:rPr>
              <a:t>The real cost in fashion e-commerce is returns, not traffic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cap="none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4937760" cy="2286000"/>
          </a:xfrm>
          <a:prstGeom prst="roundRect">
            <a:avLst>
              <a:gd name="adj" fmla="val 6000"/>
            </a:avLst>
          </a:prstGeom>
          <a:solidFill>
            <a:srgbClr val="20242A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cap="none">
                <a:solidFill>
                  <a:srgbClr val="E5484D"/>
                </a:solidFill>
              </a:rPr>
              <a:t>What shoppers face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 cap="none">
                <a:solidFill>
                  <a:srgbClr val="FFFFFF"/>
                </a:solidFill>
              </a:rPr>
              <a:t>Cannot judge cut, fabric or drape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 cap="none">
                <a:solidFill>
                  <a:srgbClr val="FFFFFF"/>
                </a:solidFill>
              </a:rPr>
              <a:t>Sizes are guesswork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 cap="none">
                <a:solidFill>
                  <a:srgbClr val="FFFFFF"/>
                </a:solidFill>
              </a:rPr>
              <a:t>Returns are a hassle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00200"/>
            <a:ext cx="4937760" cy="2286000"/>
          </a:xfrm>
          <a:prstGeom prst="roundRect">
            <a:avLst>
              <a:gd name="adj" fmla="val 6000"/>
            </a:avLst>
          </a:prstGeom>
          <a:solidFill>
            <a:srgbClr val="20242A"/>
          </a:solidFill>
          <a:ln w="12700">
            <a:solidFill>
              <a:srgbClr val="A6AE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cap="none">
                <a:solidFill>
                  <a:srgbClr val="A6AEBD"/>
                </a:solidFill>
              </a:rPr>
              <a:t>What platforms own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 cap="none">
                <a:solidFill>
                  <a:srgbClr val="FFFFFF"/>
                </a:solidFill>
              </a:rPr>
              <a:t>Price, selection, logistics already solved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 cap="none">
                <a:solidFill>
                  <a:srgbClr val="FFFFFF"/>
                </a:solidFill>
              </a:rPr>
              <a:t>Competing on 'cheaper/faster' loses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 cap="none">
                <a:solidFill>
                  <a:srgbClr val="FFFFFF"/>
                </a:solidFill>
              </a:rPr>
              <a:t>The moat is being filled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1045159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cap="none">
                <a:solidFill>
                  <a:srgbClr val="A6AEBD"/>
                </a:solidFill>
              </a:rPr>
              <a:t>So we do not compete on price. We compete on buying the right 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 cap="none">
                <a:solidFill>
                  <a:srgbClr val="FFFFFF"/>
                </a:solidFill>
              </a:rPr>
              <a:t>Our answer: help shoppers buy right, not buy more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cap="none">
                <a:solidFill>
                  <a:srgbClr val="FFFFFF"/>
                </a:solidFill>
              </a:rPr>
              <a:t>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45159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0" cap="none">
                <a:solidFill>
                  <a:srgbClr val="A6AEBD"/>
                </a:solidFill>
              </a:rPr>
              <a:t>Taobao finds you the cheapest version.  </a:t>
            </a:r>
            <a:r>
              <a:rPr sz="2600" b="1" cap="none">
                <a:solidFill>
                  <a:srgbClr val="FFE94D"/>
                </a:solidFill>
              </a:rPr>
              <a:t>We make sure you keep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743200"/>
            <a:ext cx="4937760" cy="2194560"/>
          </a:xfrm>
          <a:prstGeom prst="roundRect">
            <a:avLst>
              <a:gd name="adj" fmla="val 6000"/>
            </a:avLst>
          </a:prstGeom>
          <a:solidFill>
            <a:srgbClr val="1A2820"/>
          </a:solidFill>
          <a:ln w="12700">
            <a:solidFill>
              <a:srgbClr val="7FD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cap="none">
                <a:solidFill>
                  <a:srgbClr val="7FD3A6"/>
                </a:solidFill>
              </a:rPr>
              <a:t>Customer: local independent retailers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 cap="none">
                <a:solidFill>
                  <a:srgbClr val="FFFFFF"/>
                </a:solidFill>
              </a:rPr>
              <a:t>Squeezed by the large platforms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 cap="none">
                <a:solidFill>
                  <a:srgbClr val="FFFFFF"/>
                </a:solidFill>
              </a:rPr>
              <a:t>Cannot build AI in-house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 cap="none">
                <a:solidFill>
                  <a:srgbClr val="FFFFFF"/>
                </a:solidFill>
              </a:rPr>
              <a:t>Need fewer returns and higher basket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743200"/>
            <a:ext cx="4937760" cy="2194560"/>
          </a:xfrm>
          <a:prstGeom prst="roundRect">
            <a:avLst>
              <a:gd name="adj" fmla="val 6000"/>
            </a:avLst>
          </a:prstGeom>
          <a:solidFill>
            <a:srgbClr val="20242A"/>
          </a:solidFill>
          <a:ln w="12700">
            <a:solidFill>
              <a:srgbClr val="BFD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cap="none">
                <a:solidFill>
                  <a:srgbClr val="BFD4F5"/>
                </a:solidFill>
              </a:rPr>
              <a:t>Delivery: B2B SaaS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 cap="none">
                <a:solidFill>
                  <a:srgbClr val="FFFFFF"/>
                </a:solidFill>
              </a:rPr>
              <a:t>One script tag on an existing store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 cap="none">
                <a:solidFill>
                  <a:srgbClr val="FFFFFF"/>
                </a:solidFill>
              </a:rPr>
              <a:t>Merchant dashboard for the numbers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 cap="none">
                <a:solidFill>
                  <a:srgbClr val="FFFFFF"/>
                </a:solidFill>
              </a:rPr>
              <a:t>Per-tenant isolation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 cap="none">
                <a:solidFill>
                  <a:srgbClr val="FFFFFF"/>
                </a:solidFill>
              </a:rPr>
              <a:t>The deeper platforms penetrate, the more local shops need this — a tailwind, not a headwind.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 cap="none">
                <a:solidFill>
                  <a:srgbClr val="FFFFFF"/>
                </a:solidFill>
              </a:rPr>
              <a:t>Architecture: four services, each degradable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cap="none">
                <a:solidFill>
                  <a:srgbClr val="FFFFFF"/>
                </a:solidFill>
              </a:rPr>
              <a:t>ARCHITECTURE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42415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096"/>
                <a:gridCol w="868680"/>
                <a:gridCol w="4864607"/>
                <a:gridCol w="2779776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E94D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E94D"/>
                          </a:solidFill>
                        </a:rPr>
                        <a:t>Port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E94D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E94D"/>
                          </a:solidFill>
                        </a:rPr>
                        <a:t>If offline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Web app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3000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Node.js, zero dependencies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Visual search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8001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Marqo-FashionSigLIP + FAISS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colour heuristic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Price forecast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8002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Meta Prophet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linear trend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Virtual try-on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8003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CatVTON on local GPU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overlay preview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Assistant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3000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Tool calling, 7 tools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template replies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 cap="none">
                <a:solidFill>
                  <a:srgbClr val="FFFFFF"/>
                </a:solidFill>
              </a:rPr>
              <a:t>Switch any AI service off and the site still works. That is a design goal, not a side effect.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 cap="none">
                <a:solidFill>
                  <a:srgbClr val="FFFFFF"/>
                </a:solidFill>
              </a:rPr>
              <a:t>Result 1: image search (94 bilingual queries)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cap="none">
                <a:solidFill>
                  <a:srgbClr val="FFFFFF"/>
                </a:solidFill>
              </a:rPr>
              <a:t>RESULT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424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371600"/>
                <a:gridCol w="1371600"/>
                <a:gridCol w="1554480"/>
                <a:gridCol w="155448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E94D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E94D"/>
                          </a:solidFill>
                        </a:rPr>
                        <a:t>R@1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E94D"/>
                          </a:solidFill>
                        </a:rPr>
                        <a:t>R@5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E94D"/>
                          </a:solidFill>
                        </a:rPr>
                        <a:t>Chinese R@5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E94D"/>
                          </a:solidFill>
                        </a:rPr>
                        <a:t>English R@5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Original CLIP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45.7%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84.0%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70.2%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97.9%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Marqo-FashionCLIP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41.5%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78.7%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61.7%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95.7%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Marqo-FashionSigLIP (raw)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39.4%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58.5%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17.0%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+ Chinese normalisation (deployed)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73.4%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 cap="none">
                <a:solidFill>
                  <a:srgbClr val="FFE94D"/>
                </a:solidFill>
              </a:rPr>
              <a:t>A stronger model made it worse — the problem is language, not the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 cap="none">
                <a:solidFill>
                  <a:srgbClr val="FFFFFF"/>
                </a:solidFill>
              </a:rPr>
              <a:t>Key finding: Chinese was never encoded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cap="none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cap="none">
                <a:solidFill>
                  <a:srgbClr val="E5484D"/>
                </a:solidFill>
              </a:rPr>
              <a:t>17%</a:t>
            </a:r>
          </a:p>
          <a:p>
            <a:pPr algn="ctr"/>
            <a:r>
              <a:rPr sz="1200" cap="none">
                <a:solidFill>
                  <a:srgbClr val="A6AEBD"/>
                </a:solidFill>
              </a:rPr>
              <a:t>Chinese Recall@5 (random ≈ 15%)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cap="none">
                <a:solidFill>
                  <a:srgbClr val="7FD3A6"/>
                </a:solidFill>
              </a:rPr>
              <a:t>100%</a:t>
            </a:r>
          </a:p>
          <a:p>
            <a:pPr algn="ctr"/>
            <a:r>
              <a:rPr sz="1200" cap="none">
                <a:solidFill>
                  <a:srgbClr val="A6AEBD"/>
                </a:solidFill>
              </a:rPr>
              <a:t>English Recall@5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cap="none">
                <a:solidFill>
                  <a:srgbClr val="FFE94D"/>
                </a:solidFill>
              </a:rPr>
              <a:t>+83</a:t>
            </a:r>
          </a:p>
          <a:p>
            <a:pPr algn="ctr"/>
            <a:r>
              <a:rPr sz="1200" cap="none">
                <a:solidFill>
                  <a:srgbClr val="A6AEBD"/>
                </a:solidFill>
              </a:rPr>
              <a:t>points gained after normalisation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10451592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 cap="none">
                <a:solidFill>
                  <a:srgbClr val="A6AEBD"/>
                </a:solidFill>
              </a:rPr>
              <a:t>Three completely different Chinese queries (ski jacket / ski goggles / leather loafers) </a:t>
            </a:r>
            <a:r>
              <a:rPr sz="1500" b="1" cap="none">
                <a:solidFill>
                  <a:srgbClr val="FFFFFF"/>
                </a:solidFill>
              </a:rPr>
              <a:t>produced identical embeddings and identical rankings.</a:t>
            </a:r>
            <a:r>
              <a:rPr sz="1500" b="0" cap="none">
                <a:solidFill>
                  <a:srgbClr val="A6AEBD"/>
                </a:solidFill>
              </a:rPr>
              <a:t> The tokenizer collapses CJK input instead of encoding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 cap="none">
                <a:solidFill>
                  <a:srgbClr val="FFFFFF"/>
                </a:solidFill>
              </a:rPr>
              <a:t>The fix was not a better model — it was translating the query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 cap="none">
                <a:solidFill>
                  <a:srgbClr val="FFFFFF"/>
                </a:solidFill>
              </a:rPr>
              <a:t>Result 2: price forecasting (40 products, 30-day holdout)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cap="none">
                <a:solidFill>
                  <a:srgbClr val="FFFFFF"/>
                </a:solidFill>
              </a:rPr>
              <a:t>RESULT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65836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097280"/>
                <a:gridCol w="1188720"/>
                <a:gridCol w="118872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E94D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E94D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E94D"/>
                          </a:solidFill>
                        </a:rPr>
                        <a:t>MAPE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E94D"/>
                          </a:solidFill>
                        </a:rPr>
                        <a:t>Won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Prophet (deployed)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0.28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0.34%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38/40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Linear trend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1.10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1.25%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Naive (last price)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0.39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0.50%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69164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2C281A"/>
          </a:solidFill>
          <a:ln w="12700">
            <a:solidFill>
              <a:srgbClr val="FFE9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cap="none">
                <a:solidFill>
                  <a:srgbClr val="FFE94D"/>
                </a:solidFill>
              </a:rPr>
              <a:t>On 11 November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Forecast 189 → 156.5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A 17.2% drop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Recovers the next 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 cap="none">
                <a:solidFill>
                  <a:srgbClr val="FFFFFF"/>
                </a:solidFill>
              </a:rPr>
              <a:t>Modelling the sale calendar as holidays is what captures a one-day dip; yearly seasonality smears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 cap="none">
                <a:solidFill>
                  <a:srgbClr val="FFFFFF"/>
                </a:solidFill>
              </a:rPr>
              <a:t>Result 3: virtual try-on (local GPU, not simulated)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cap="none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cap="none">
                <a:solidFill>
                  <a:srgbClr val="7FD3A6"/>
                </a:solidFill>
              </a:rPr>
              <a:t>3.57</a:t>
            </a:r>
          </a:p>
          <a:p>
            <a:pPr algn="ctr"/>
            <a:r>
              <a:rPr sz="1200" cap="none">
                <a:solidFill>
                  <a:srgbClr val="A6AEBD"/>
                </a:solidFill>
              </a:rPr>
              <a:t>GiB peak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45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cap="none">
                <a:solidFill>
                  <a:srgbClr val="FFE94D"/>
                </a:solidFill>
              </a:rPr>
              <a:t>21s</a:t>
            </a:r>
          </a:p>
          <a:p>
            <a:pPr algn="ctr"/>
            <a:r>
              <a:rPr sz="1200" cap="none">
                <a:solidFill>
                  <a:srgbClr val="A6AEBD"/>
                </a:solidFill>
              </a:rPr>
              <a:t>per try-on (20 steps)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645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cap="none">
                <a:solidFill>
                  <a:srgbClr val="FFFFFF"/>
                </a:solidFill>
              </a:rPr>
              <a:t>768×1024</a:t>
            </a:r>
          </a:p>
          <a:p>
            <a:pPr algn="ctr"/>
            <a:r>
              <a:rPr sz="1200" cap="none">
                <a:solidFill>
                  <a:srgbClr val="A6AEBD"/>
                </a:solidFill>
              </a:rPr>
              <a:t>output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10451592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cap="none">
                <a:solidFill>
                  <a:srgbClr val="FFFFFF"/>
                </a:solidFill>
              </a:rPr>
              <a:t>We chose CatVTON (ICLR 2025) over Outfit Anyone: </a:t>
            </a:r>
            <a:r>
              <a:rPr sz="1500" b="0" cap="none">
                <a:solidFill>
                  <a:srgbClr val="A6AEBD"/>
                </a:solidFill>
              </a:rPr>
              <a:t>the latter has never released its weights, and its public demo accepts garments only with preset people.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 cap="none">
                <a:solidFill>
                  <a:srgbClr val="FFFFFF"/>
                </a:solidFill>
              </a:rPr>
              <a:t>Face, hair and trousers are preserved; only the garment is replaced.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 cap="none">
                <a:solidFill>
                  <a:srgbClr val="FFFFFF"/>
                </a:solidFill>
              </a:rPr>
              <a:t>Result 4: the assistant does things, not just chat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cap="none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cap="none">
                <a:solidFill>
                  <a:srgbClr val="7FD3A6"/>
                </a:solidFill>
              </a:rPr>
              <a:t>100%</a:t>
            </a:r>
          </a:p>
          <a:p>
            <a:pPr algn="ctr"/>
            <a:r>
              <a:rPr sz="1200" cap="none">
                <a:solidFill>
                  <a:srgbClr val="A6AEBD"/>
                </a:solidFill>
              </a:rPr>
              <a:t>tool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45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cap="none">
                <a:solidFill>
                  <a:srgbClr val="7FD3A6"/>
                </a:solidFill>
              </a:rPr>
              <a:t>100%</a:t>
            </a:r>
          </a:p>
          <a:p>
            <a:pPr algn="ctr"/>
            <a:r>
              <a:rPr sz="1200" cap="none">
                <a:solidFill>
                  <a:srgbClr val="A6AEBD"/>
                </a:solidFill>
              </a:rPr>
              <a:t>grounded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645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cap="none">
                <a:solidFill>
                  <a:srgbClr val="7FD3A6"/>
                </a:solidFill>
              </a:rPr>
              <a:t>100%</a:t>
            </a:r>
          </a:p>
          <a:p>
            <a:pPr algn="ctr"/>
            <a:r>
              <a:rPr sz="1200" cap="none">
                <a:solidFill>
                  <a:srgbClr val="A6AEBD"/>
                </a:solidFill>
              </a:rPr>
              <a:t>containment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10451592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cap="none">
                <a:solidFill>
                  <a:srgbClr val="FFFFFF"/>
                </a:solidFill>
              </a:rPr>
              <a:t>Route → tools → facts → compose.</a:t>
            </a:r>
            <a:r>
              <a:rPr sz="1500" b="0" cap="none">
                <a:solidFill>
                  <a:srgbClr val="A6AEBD"/>
                </a:solidFill>
              </a:rPr>
              <a:t> Tools emit pre-formatted numbers and the composer does no arithmetic, so hallucinated figures are structurally impossible.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 cap="none">
                <a:solidFill>
                  <a:srgbClr val="FFFFFF"/>
                </a:solidFill>
              </a:rPr>
              <a:t>"Will the ski jacket get cheaper?" → calls Prophet → quotes the 11.6% drop and the sale date.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 cap="none">
                <a:solidFill>
                  <a:srgbClr val="FFFFFF"/>
                </a:solidFill>
              </a:rPr>
              <a:t>Result 5: Hong Kong localisation and store traffic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cap="none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4937760" cy="3017520"/>
          </a:xfrm>
          <a:prstGeom prst="roundRect">
            <a:avLst>
              <a:gd name="adj" fmla="val 6000"/>
            </a:avLst>
          </a:prstGeom>
          <a:solidFill>
            <a:srgbClr val="20242A"/>
          </a:solidFill>
          <a:ln w="12700">
            <a:solidFill>
              <a:srgbClr val="BFD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cap="none">
                <a:solidFill>
                  <a:srgbClr val="BFD4F5"/>
                </a:solidFill>
              </a:rPr>
              <a:t>Eight stores, real addresses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Mong Kok, Causeway Bay, Tsim Sha Tsui, Sha Tin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Tsuen Wan, Kwun Tong, Central, Yuen Long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MTR exits and opening hours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Sold out online → which store has it + directions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00200"/>
            <a:ext cx="4937760" cy="3017520"/>
          </a:xfrm>
          <a:prstGeom prst="roundRect">
            <a:avLst>
              <a:gd name="adj" fmla="val 6000"/>
            </a:avLst>
          </a:prstGeom>
          <a:solidFill>
            <a:srgbClr val="1A2820"/>
          </a:solidFill>
          <a:ln w="12700">
            <a:solidFill>
              <a:srgbClr val="7FD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cap="none">
                <a:solidFill>
                  <a:srgbClr val="7FD3A6"/>
                </a:solidFill>
              </a:rPr>
              <a:t>Payment and pickup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Octopus O! ePay, PayMe, FPS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AlipayHK, WeChat Pay HK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SF station / locker, home delivery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Store pickup: order before 6 pm, same 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 cap="none">
                <a:solidFill>
                  <a:srgbClr val="FFFFFF"/>
                </a:solidFill>
              </a:rPr>
              <a:t>Six products are out of stock online but on a store shelf — the local rescue scenario.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 cap="none">
                <a:solidFill>
                  <a:srgbClr val="FFFFFF"/>
                </a:solidFill>
              </a:rPr>
              <a:t>Four things a large platform structurally cannot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cap="none">
                <a:solidFill>
                  <a:srgbClr val="FFFFFF"/>
                </a:solidFill>
              </a:rPr>
              <a:t>STRATEGY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42415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640079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E94D"/>
                          </a:solidFill>
                        </a:rPr>
                        <a:t>Difference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E94D"/>
                          </a:solidFill>
                        </a:rPr>
                        <a:t>Why the platform cannot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Willing to say "wait for the drop"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Platform revenue is tied to GMV, so it will not advise against its own interest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Cross-merchant return intelligence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Aggregating merchant returns is commercially infeasible for a marketplace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A size passport across shops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Platforms do not open size data to individual merchants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Privacy localisation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Model runs on a local GPU; body photos never leave the machine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 cap="none">
                <a:solidFill>
                  <a:srgbClr val="FFE94D"/>
                </a:solidFill>
              </a:rPr>
              <a:t>These are not feature differences. They are objective-function differences.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 cap="none">
                <a:solidFill>
                  <a:srgbClr val="FFFFFF"/>
                </a:solidFill>
              </a:rPr>
              <a:t>Progress: every commitment from the three meetings is 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cap="none">
                <a:solidFill>
                  <a:srgbClr val="FFFFFF"/>
                </a:solidFill>
              </a:rPr>
              <a:t>PROGRESS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42415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362"/>
                <a:gridCol w="6444026"/>
                <a:gridCol w="1705771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E94D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E94D"/>
                          </a:solidFill>
                        </a:rPr>
                        <a:t>Work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E94D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2E34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Meeting 1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Site foundation and ten modules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Meeting 2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Assistant, visual search, price forecast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Meeting 3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Merchant dashboard, embeddable widget, exit intent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Interim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Real models: try-on, forecast, retrieval, assistant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FD4F5"/>
                          </a:solidFill>
                        </a:rPr>
                        <a:t>Next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Shop the Look, Try-Off, user study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2024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 cap="none">
                <a:solidFill>
                  <a:srgbClr val="FFFFFF"/>
                </a:solidFill>
              </a:rPr>
              <a:t>Five AI capabilities moved from simulated to real models, all measurable.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 cap="none">
                <a:solidFill>
                  <a:srgbClr val="FFFFFF"/>
                </a:solidFill>
              </a:rPr>
              <a:t>Next steps and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cap="none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4937760" cy="2926080"/>
          </a:xfrm>
          <a:prstGeom prst="roundRect">
            <a:avLst>
              <a:gd name="adj" fmla="val 6000"/>
            </a:avLst>
          </a:prstGeom>
          <a:solidFill>
            <a:srgbClr val="1A2820"/>
          </a:solidFill>
          <a:ln w="12700">
            <a:solidFill>
              <a:srgbClr val="7FD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cap="none">
                <a:solidFill>
                  <a:srgbClr val="7FD3A6"/>
                </a:solidFill>
              </a:rPr>
              <a:t>Next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Shop the Look: detect, crop, retrieve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Try-Off: clean resale photos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Model-based assistant routing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User study on return rates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00200"/>
            <a:ext cx="4937760" cy="2926080"/>
          </a:xfrm>
          <a:prstGeom prst="roundRect">
            <a:avLst>
              <a:gd name="adj" fmla="val 6000"/>
            </a:avLst>
          </a:prstGeom>
          <a:solidFill>
            <a:srgbClr val="2C281A"/>
          </a:solidFill>
          <a:ln w="12700">
            <a:solidFill>
              <a:srgbClr val="FFE9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cap="none">
                <a:solidFill>
                  <a:srgbClr val="FFE94D"/>
                </a:solidFill>
              </a:rPr>
              <a:t>Risks, stated plainly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Synthetic data flatters the numbers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CatVTON licence is non-commercial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Try-on latency of 20-30 s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300" b="0" cap="none">
                <a:solidFill>
                  <a:srgbClr val="FFFFFF"/>
                </a:solidFill>
              </a:rPr>
              <a:t>Rule-based routing has limited coverage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0" cap="none">
                <a:solidFill>
                  <a:srgbClr val="FFFFFF"/>
                </a:solidFill>
              </a:rPr>
              <a:t>The value of the work is the negative result and the correction, not the number of models used.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600" b="1" cap="none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900" b="0" cap="none">
                <a:solidFill>
                  <a:srgbClr val="DDE3EE"/>
                </a:solidFill>
              </a:rPr>
              <a:t>1.  Should the contribution be framed as integration or as modelling?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900" b="0" cap="none">
                <a:solidFill>
                  <a:srgbClr val="DDE3EE"/>
                </a:solidFill>
              </a:rPr>
              <a:t>2.  Which comes first: Shop the Look, or the user study?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900" b="0" cap="none">
                <a:solidFill>
                  <a:srgbClr val="DDE3EE"/>
                </a:solidFill>
              </a:rPr>
              <a:t>3.  How should synthetic-data results be presented without overclaiming?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網狀">
  <a:themeElements>
    <a:clrScheme name="網狀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網狀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網狀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TM03457485[[fn=網狀]]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網狀</vt:lpstr>
      <vt:lpstr>Final year project smartmall</vt:lpstr>
      <vt:lpstr>人工智慧於電子商務</vt:lpstr>
      <vt:lpstr>現時系統痛點與研究動機</vt:lpstr>
      <vt:lpstr>情境購物助手</vt:lpstr>
      <vt:lpstr>視覺搜尋</vt:lpstr>
      <vt:lpstr>AI 虛擬試穿</vt:lpstr>
      <vt:lpstr>預測未來價格變化</vt:lpstr>
      <vt:lpstr>Second meeting</vt:lpstr>
      <vt:lpstr>How we conduct</vt:lpstr>
      <vt:lpstr>AI asSistant</vt:lpstr>
      <vt:lpstr>Visual search</vt:lpstr>
      <vt:lpstr>Price forecasting</vt:lpstr>
      <vt:lpstr>Idea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CHIU CHEUK NAM (25200100)</dc:creator>
  <cp:lastModifiedBy>WONG PUI LAM (25200436)</cp:lastModifiedBy>
  <cp:revision>4</cp:revision>
  <dcterms:created xsi:type="dcterms:W3CDTF">2026-09-27T16:31:37Z</dcterms:created>
  <dcterms:modified xsi:type="dcterms:W3CDTF">2026-10-27T10:34:32Z</dcterms:modified>
</cp:coreProperties>
</file>